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For a 200-unit pilot, we start with transparent assumptions. Twelve preventable issues a month is six percent of homes. If remote diagnostics prevent half of the first site visits, facilities avoid six visits and save 4.5 hours monthly. The important point is that LIVLINK records the real telemetry and work-order outcomes, so this becomes a measured commercial model after a pilot.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8FE"/>
        </a:solidFill>
      </p:bgPr>
    </p:bg>
    <p:spTree>
      <p:nvGrpSpPr>
        <p:cNvPr id="1" name=""/>
        <p:cNvGrpSpPr/>
        <p:nvPr/>
      </p:nvGrpSpPr>
      <p:grpSpPr>
        <a:xfrm>
          <a:off x="0" y="0"/>
          <a:ext cx="0" cy="0"/>
          <a:chOff x="0" y="0"/>
          <a:chExt cx="0" cy="0"/>
        </a:xfrm>
      </p:grpSpPr>
      <p:sp>
        <p:nvSpPr>
          <p:cNvPr id="2" name="Text 0"/>
          <p:cNvSpPr/>
          <p:nvPr/>
        </p:nvSpPr>
        <p:spPr>
          <a:xfrm>
            <a:off x="594360" y="438912"/>
            <a:ext cx="9052560" cy="411480"/>
          </a:xfrm>
          <a:prstGeom prst="rect">
            <a:avLst/>
          </a:prstGeom>
          <a:noFill/>
          <a:ln/>
        </p:spPr>
        <p:txBody>
          <a:bodyPr wrap="square" lIns="0" tIns="0" rIns="0" bIns="0" rtlCol="0" anchor="ctr"/>
          <a:lstStyle/>
          <a:p>
            <a:pPr indent="0" marL="0">
              <a:buNone/>
            </a:pPr>
            <a:r>
              <a:rPr lang="en-US" sz="2500" b="1" dirty="0">
                <a:solidFill>
                  <a:srgbClr val="24213F"/>
                </a:solidFill>
                <a:latin typeface="Cambria" pitchFamily="34" charset="0"/>
                <a:ea typeface="Cambria" pitchFamily="34" charset="-122"/>
                <a:cs typeface="Cambria" pitchFamily="34" charset="-120"/>
              </a:rPr>
              <a:t>A 200-unit tower gets value before a resident complains</a:t>
            </a:r>
            <a:endParaRPr lang="en-US" sz="2500" dirty="0"/>
          </a:p>
        </p:txBody>
      </p:sp>
      <p:sp>
        <p:nvSpPr>
          <p:cNvPr id="3" name="Text 1"/>
          <p:cNvSpPr/>
          <p:nvPr/>
        </p:nvSpPr>
        <p:spPr>
          <a:xfrm>
            <a:off x="612648" y="960120"/>
            <a:ext cx="10789920" cy="256032"/>
          </a:xfrm>
          <a:prstGeom prst="rect">
            <a:avLst/>
          </a:prstGeom>
          <a:noFill/>
          <a:ln/>
        </p:spPr>
        <p:txBody>
          <a:bodyPr wrap="square" lIns="0" tIns="0" rIns="0" bIns="0" rtlCol="0" anchor="ctr"/>
          <a:lstStyle/>
          <a:p>
            <a:pPr indent="0" marL="0">
              <a:buNone/>
            </a:pPr>
            <a:r>
              <a:rPr lang="en-US" sz="1050" dirty="0">
                <a:solidFill>
                  <a:srgbClr val="5C6082"/>
                </a:solidFill>
                <a:latin typeface="Calibri" pitchFamily="34" charset="0"/>
                <a:ea typeface="Calibri" pitchFamily="34" charset="-122"/>
                <a:cs typeface="Calibri" pitchFamily="34" charset="-120"/>
              </a:rPr>
              <a:t>Illustrative pilot model — validate these assumptions with building data before using them as a commercial forecast.</a:t>
            </a:r>
            <a:endParaRPr lang="en-US" sz="1050" dirty="0"/>
          </a:p>
        </p:txBody>
      </p:sp>
      <p:sp>
        <p:nvSpPr>
          <p:cNvPr id="4" name="Shape 2"/>
          <p:cNvSpPr/>
          <p:nvPr/>
        </p:nvSpPr>
        <p:spPr>
          <a:xfrm>
            <a:off x="621792" y="1508760"/>
            <a:ext cx="3154680" cy="2029968"/>
          </a:xfrm>
          <a:prstGeom prst="roundRect">
            <a:avLst>
              <a:gd name="adj" fmla="val 6306"/>
            </a:avLst>
          </a:prstGeom>
          <a:solidFill>
            <a:srgbClr val="FFFFFF"/>
          </a:solidFill>
          <a:ln w="12700">
            <a:solidFill>
              <a:srgbClr val="DFE2F2"/>
            </a:solidFill>
            <a:prstDash val="solid"/>
          </a:ln>
          <a:effectLst>
            <a:outerShdw sx="100000" sy="100000" kx="0" ky="0" algn="bl" rotWithShape="0" blurRad="25400" dist="50800" dir="2700000">
              <a:srgbClr val="24213F">
                <a:alpha val="10000"/>
              </a:srgbClr>
            </a:outerShdw>
          </a:effectLst>
        </p:spPr>
      </p:sp>
      <p:sp>
        <p:nvSpPr>
          <p:cNvPr id="5" name="Shape 3"/>
          <p:cNvSpPr/>
          <p:nvPr/>
        </p:nvSpPr>
        <p:spPr>
          <a:xfrm>
            <a:off x="877824" y="1792224"/>
            <a:ext cx="393192" cy="393192"/>
          </a:xfrm>
          <a:prstGeom prst="ellipse">
            <a:avLst/>
          </a:prstGeom>
          <a:solidFill>
            <a:srgbClr val="6758CE"/>
          </a:solidFill>
          <a:ln w="12700">
            <a:solidFill>
              <a:srgbClr val="6758CE"/>
            </a:solidFill>
            <a:prstDash val="solid"/>
          </a:ln>
        </p:spPr>
      </p:sp>
      <p:sp>
        <p:nvSpPr>
          <p:cNvPr id="6" name="Text 4"/>
          <p:cNvSpPr/>
          <p:nvPr/>
        </p:nvSpPr>
        <p:spPr>
          <a:xfrm>
            <a:off x="877824" y="2240280"/>
            <a:ext cx="2514600" cy="502920"/>
          </a:xfrm>
          <a:prstGeom prst="rect">
            <a:avLst/>
          </a:prstGeom>
          <a:noFill/>
          <a:ln/>
        </p:spPr>
        <p:txBody>
          <a:bodyPr wrap="square" lIns="0" tIns="0" rIns="0" bIns="0" rtlCol="0" anchor="ctr"/>
          <a:lstStyle/>
          <a:p>
            <a:pPr indent="0" marL="0">
              <a:buNone/>
            </a:pPr>
            <a:r>
              <a:rPr lang="en-US" sz="3000" b="1" dirty="0">
                <a:solidFill>
                  <a:srgbClr val="24213F"/>
                </a:solidFill>
                <a:latin typeface="Cambria" pitchFamily="34" charset="0"/>
                <a:ea typeface="Cambria" pitchFamily="34" charset="-122"/>
                <a:cs typeface="Cambria" pitchFamily="34" charset="-120"/>
              </a:rPr>
              <a:t>12</a:t>
            </a:r>
            <a:endParaRPr lang="en-US" sz="3000" dirty="0"/>
          </a:p>
        </p:txBody>
      </p:sp>
      <p:sp>
        <p:nvSpPr>
          <p:cNvPr id="7" name="Text 5"/>
          <p:cNvSpPr/>
          <p:nvPr/>
        </p:nvSpPr>
        <p:spPr>
          <a:xfrm>
            <a:off x="877824" y="2770632"/>
            <a:ext cx="2651760" cy="420624"/>
          </a:xfrm>
          <a:prstGeom prst="rect">
            <a:avLst/>
          </a:prstGeom>
          <a:noFill/>
          <a:ln/>
        </p:spPr>
        <p:txBody>
          <a:bodyPr wrap="square" lIns="0" tIns="0" rIns="0" bIns="0" rtlCol="0" anchor="ctr"/>
          <a:lstStyle/>
          <a:p>
            <a:pPr indent="0" marL="0">
              <a:buNone/>
            </a:pPr>
            <a:r>
              <a:rPr lang="en-US" sz="1200" b="1" dirty="0">
                <a:solidFill>
                  <a:srgbClr val="24213F"/>
                </a:solidFill>
                <a:latin typeface="Calibri" pitchFamily="34" charset="0"/>
                <a:ea typeface="Calibri" pitchFamily="34" charset="-122"/>
                <a:cs typeface="Calibri" pitchFamily="34" charset="-120"/>
              </a:rPr>
              <a:t>device issues detected</a:t>
            </a:r>
            <a:endParaRPr lang="en-US" sz="1200" dirty="0"/>
          </a:p>
          <a:p>
            <a:pPr indent="0" marL="0">
              <a:buNone/>
            </a:pPr>
            <a:r>
              <a:rPr lang="en-US" sz="1200" b="1" dirty="0">
                <a:solidFill>
                  <a:srgbClr val="24213F"/>
                </a:solidFill>
                <a:latin typeface="Calibri" pitchFamily="34" charset="0"/>
                <a:ea typeface="Calibri" pitchFamily="34" charset="-122"/>
                <a:cs typeface="Calibri" pitchFamily="34" charset="-120"/>
              </a:rPr>
              <a:t>before a complaint / month</a:t>
            </a:r>
            <a:endParaRPr lang="en-US" sz="1200" dirty="0"/>
          </a:p>
        </p:txBody>
      </p:sp>
      <p:sp>
        <p:nvSpPr>
          <p:cNvPr id="8" name="Text 6"/>
          <p:cNvSpPr/>
          <p:nvPr/>
        </p:nvSpPr>
        <p:spPr>
          <a:xfrm>
            <a:off x="877824" y="3200400"/>
            <a:ext cx="2697480" cy="256032"/>
          </a:xfrm>
          <a:prstGeom prst="rect">
            <a:avLst/>
          </a:prstGeom>
          <a:noFill/>
          <a:ln/>
        </p:spPr>
        <p:txBody>
          <a:bodyPr wrap="square" lIns="0" tIns="0" rIns="0" bIns="0" rtlCol="0" anchor="ctr"/>
          <a:lstStyle/>
          <a:p>
            <a:pPr indent="0" marL="0">
              <a:buNone/>
            </a:pPr>
            <a:r>
              <a:rPr lang="en-US" sz="850" dirty="0">
                <a:solidFill>
                  <a:srgbClr val="5C6082"/>
                </a:solidFill>
                <a:latin typeface="Calibri" pitchFamily="34" charset="0"/>
                <a:ea typeface="Calibri" pitchFamily="34" charset="-122"/>
                <a:cs typeface="Calibri" pitchFamily="34" charset="-120"/>
              </a:rPr>
              <a:t>Assumption: 6% of 200 units</a:t>
            </a:r>
            <a:endParaRPr lang="en-US" sz="850" dirty="0"/>
          </a:p>
          <a:p>
            <a:pPr indent="0" marL="0">
              <a:buNone/>
            </a:pPr>
            <a:r>
              <a:rPr lang="en-US" sz="850" dirty="0">
                <a:solidFill>
                  <a:srgbClr val="5C6082"/>
                </a:solidFill>
                <a:latin typeface="Calibri" pitchFamily="34" charset="0"/>
                <a:ea typeface="Calibri" pitchFamily="34" charset="-122"/>
                <a:cs typeface="Calibri" pitchFamily="34" charset="-120"/>
              </a:rPr>
              <a:t>produce a preventable issue monthly</a:t>
            </a:r>
            <a:endParaRPr lang="en-US" sz="850" dirty="0"/>
          </a:p>
        </p:txBody>
      </p:sp>
      <p:sp>
        <p:nvSpPr>
          <p:cNvPr id="9" name="Shape 7"/>
          <p:cNvSpPr/>
          <p:nvPr/>
        </p:nvSpPr>
        <p:spPr>
          <a:xfrm>
            <a:off x="4224528" y="1508760"/>
            <a:ext cx="3154680" cy="2029968"/>
          </a:xfrm>
          <a:prstGeom prst="roundRect">
            <a:avLst>
              <a:gd name="adj" fmla="val 6306"/>
            </a:avLst>
          </a:prstGeom>
          <a:solidFill>
            <a:srgbClr val="FFFFFF"/>
          </a:solidFill>
          <a:ln w="12700">
            <a:solidFill>
              <a:srgbClr val="DFE2F2"/>
            </a:solidFill>
            <a:prstDash val="solid"/>
          </a:ln>
          <a:effectLst>
            <a:outerShdw sx="100000" sy="100000" kx="0" ky="0" algn="bl" rotWithShape="0" blurRad="25400" dist="50800" dir="2700000">
              <a:srgbClr val="24213F">
                <a:alpha val="10000"/>
              </a:srgbClr>
            </a:outerShdw>
          </a:effectLst>
        </p:spPr>
      </p:sp>
      <p:sp>
        <p:nvSpPr>
          <p:cNvPr id="10" name="Shape 8"/>
          <p:cNvSpPr/>
          <p:nvPr/>
        </p:nvSpPr>
        <p:spPr>
          <a:xfrm>
            <a:off x="4480560" y="1792224"/>
            <a:ext cx="393192" cy="393192"/>
          </a:xfrm>
          <a:prstGeom prst="ellipse">
            <a:avLst/>
          </a:prstGeom>
          <a:solidFill>
            <a:srgbClr val="496FE8"/>
          </a:solidFill>
          <a:ln w="12700">
            <a:solidFill>
              <a:srgbClr val="496FE8"/>
            </a:solidFill>
            <a:prstDash val="solid"/>
          </a:ln>
        </p:spPr>
      </p:sp>
      <p:sp>
        <p:nvSpPr>
          <p:cNvPr id="11" name="Text 9"/>
          <p:cNvSpPr/>
          <p:nvPr/>
        </p:nvSpPr>
        <p:spPr>
          <a:xfrm>
            <a:off x="4480560" y="2240280"/>
            <a:ext cx="2514600" cy="502920"/>
          </a:xfrm>
          <a:prstGeom prst="rect">
            <a:avLst/>
          </a:prstGeom>
          <a:noFill/>
          <a:ln/>
        </p:spPr>
        <p:txBody>
          <a:bodyPr wrap="square" lIns="0" tIns="0" rIns="0" bIns="0" rtlCol="0" anchor="ctr"/>
          <a:lstStyle/>
          <a:p>
            <a:pPr indent="0" marL="0">
              <a:buNone/>
            </a:pPr>
            <a:r>
              <a:rPr lang="en-US" sz="3000" b="1" dirty="0">
                <a:solidFill>
                  <a:srgbClr val="24213F"/>
                </a:solidFill>
                <a:latin typeface="Cambria" pitchFamily="34" charset="0"/>
                <a:ea typeface="Cambria" pitchFamily="34" charset="-122"/>
                <a:cs typeface="Cambria" pitchFamily="34" charset="-120"/>
              </a:rPr>
              <a:t>6</a:t>
            </a:r>
            <a:endParaRPr lang="en-US" sz="3000" dirty="0"/>
          </a:p>
        </p:txBody>
      </p:sp>
      <p:sp>
        <p:nvSpPr>
          <p:cNvPr id="12" name="Text 10"/>
          <p:cNvSpPr/>
          <p:nvPr/>
        </p:nvSpPr>
        <p:spPr>
          <a:xfrm>
            <a:off x="4480560" y="2770632"/>
            <a:ext cx="2651760" cy="420624"/>
          </a:xfrm>
          <a:prstGeom prst="rect">
            <a:avLst/>
          </a:prstGeom>
          <a:noFill/>
          <a:ln/>
        </p:spPr>
        <p:txBody>
          <a:bodyPr wrap="square" lIns="0" tIns="0" rIns="0" bIns="0" rtlCol="0" anchor="ctr"/>
          <a:lstStyle/>
          <a:p>
            <a:pPr indent="0" marL="0">
              <a:buNone/>
            </a:pPr>
            <a:r>
              <a:rPr lang="en-US" sz="1200" b="1" dirty="0">
                <a:solidFill>
                  <a:srgbClr val="24213F"/>
                </a:solidFill>
                <a:latin typeface="Calibri" pitchFamily="34" charset="0"/>
                <a:ea typeface="Calibri" pitchFamily="34" charset="-122"/>
                <a:cs typeface="Calibri" pitchFamily="34" charset="-120"/>
              </a:rPr>
              <a:t>diagnostic visits avoided</a:t>
            </a:r>
            <a:endParaRPr lang="en-US" sz="1200" dirty="0"/>
          </a:p>
          <a:p>
            <a:pPr indent="0" marL="0">
              <a:buNone/>
            </a:pPr>
            <a:r>
              <a:rPr lang="en-US" sz="1200" b="1" dirty="0">
                <a:solidFill>
                  <a:srgbClr val="24213F"/>
                </a:solidFill>
                <a:latin typeface="Calibri" pitchFamily="34" charset="0"/>
                <a:ea typeface="Calibri" pitchFamily="34" charset="-122"/>
                <a:cs typeface="Calibri" pitchFamily="34" charset="-120"/>
              </a:rPr>
              <a:t>per month</a:t>
            </a:r>
            <a:endParaRPr lang="en-US" sz="1200" dirty="0"/>
          </a:p>
        </p:txBody>
      </p:sp>
      <p:sp>
        <p:nvSpPr>
          <p:cNvPr id="13" name="Text 11"/>
          <p:cNvSpPr/>
          <p:nvPr/>
        </p:nvSpPr>
        <p:spPr>
          <a:xfrm>
            <a:off x="4480560" y="3200400"/>
            <a:ext cx="2697480" cy="256032"/>
          </a:xfrm>
          <a:prstGeom prst="rect">
            <a:avLst/>
          </a:prstGeom>
          <a:noFill/>
          <a:ln/>
        </p:spPr>
        <p:txBody>
          <a:bodyPr wrap="square" lIns="0" tIns="0" rIns="0" bIns="0" rtlCol="0" anchor="ctr"/>
          <a:lstStyle/>
          <a:p>
            <a:pPr indent="0" marL="0">
              <a:buNone/>
            </a:pPr>
            <a:r>
              <a:rPr lang="en-US" sz="850" dirty="0">
                <a:solidFill>
                  <a:srgbClr val="5C6082"/>
                </a:solidFill>
                <a:latin typeface="Calibri" pitchFamily="34" charset="0"/>
                <a:ea typeface="Calibri" pitchFamily="34" charset="-122"/>
                <a:cs typeface="Calibri" pitchFamily="34" charset="-120"/>
              </a:rPr>
              <a:t>Assumption: early diagnostics</a:t>
            </a:r>
            <a:endParaRPr lang="en-US" sz="850" dirty="0"/>
          </a:p>
          <a:p>
            <a:pPr indent="0" marL="0">
              <a:buNone/>
            </a:pPr>
            <a:r>
              <a:rPr lang="en-US" sz="850" dirty="0">
                <a:solidFill>
                  <a:srgbClr val="5C6082"/>
                </a:solidFill>
                <a:latin typeface="Calibri" pitchFamily="34" charset="0"/>
                <a:ea typeface="Calibri" pitchFamily="34" charset="-122"/>
                <a:cs typeface="Calibri" pitchFamily="34" charset="-120"/>
              </a:rPr>
              <a:t>avoid 50% of initial site visits</a:t>
            </a:r>
            <a:endParaRPr lang="en-US" sz="850" dirty="0"/>
          </a:p>
        </p:txBody>
      </p:sp>
      <p:sp>
        <p:nvSpPr>
          <p:cNvPr id="14" name="Shape 12"/>
          <p:cNvSpPr/>
          <p:nvPr/>
        </p:nvSpPr>
        <p:spPr>
          <a:xfrm>
            <a:off x="7827264" y="1508760"/>
            <a:ext cx="3154680" cy="2029968"/>
          </a:xfrm>
          <a:prstGeom prst="roundRect">
            <a:avLst>
              <a:gd name="adj" fmla="val 6306"/>
            </a:avLst>
          </a:prstGeom>
          <a:solidFill>
            <a:srgbClr val="FFFFFF"/>
          </a:solidFill>
          <a:ln w="12700">
            <a:solidFill>
              <a:srgbClr val="DFE2F2"/>
            </a:solidFill>
            <a:prstDash val="solid"/>
          </a:ln>
          <a:effectLst>
            <a:outerShdw sx="100000" sy="100000" kx="0" ky="0" algn="bl" rotWithShape="0" blurRad="25400" dist="50800" dir="2700000">
              <a:srgbClr val="24213F">
                <a:alpha val="10000"/>
              </a:srgbClr>
            </a:outerShdw>
          </a:effectLst>
        </p:spPr>
      </p:sp>
      <p:sp>
        <p:nvSpPr>
          <p:cNvPr id="15" name="Shape 13"/>
          <p:cNvSpPr/>
          <p:nvPr/>
        </p:nvSpPr>
        <p:spPr>
          <a:xfrm>
            <a:off x="8083296" y="1792224"/>
            <a:ext cx="393192" cy="393192"/>
          </a:xfrm>
          <a:prstGeom prst="ellipse">
            <a:avLst/>
          </a:prstGeom>
          <a:solidFill>
            <a:srgbClr val="147C54"/>
          </a:solidFill>
          <a:ln w="12700">
            <a:solidFill>
              <a:srgbClr val="147C54"/>
            </a:solidFill>
            <a:prstDash val="solid"/>
          </a:ln>
        </p:spPr>
      </p:sp>
      <p:sp>
        <p:nvSpPr>
          <p:cNvPr id="16" name="Text 14"/>
          <p:cNvSpPr/>
          <p:nvPr/>
        </p:nvSpPr>
        <p:spPr>
          <a:xfrm>
            <a:off x="8083296" y="2240280"/>
            <a:ext cx="2514600" cy="502920"/>
          </a:xfrm>
          <a:prstGeom prst="rect">
            <a:avLst/>
          </a:prstGeom>
          <a:noFill/>
          <a:ln/>
        </p:spPr>
        <p:txBody>
          <a:bodyPr wrap="square" lIns="0" tIns="0" rIns="0" bIns="0" rtlCol="0" anchor="ctr"/>
          <a:lstStyle/>
          <a:p>
            <a:pPr indent="0" marL="0">
              <a:buNone/>
            </a:pPr>
            <a:r>
              <a:rPr lang="en-US" sz="3000" b="1" dirty="0">
                <a:solidFill>
                  <a:srgbClr val="24213F"/>
                </a:solidFill>
                <a:latin typeface="Cambria" pitchFamily="34" charset="0"/>
                <a:ea typeface="Cambria" pitchFamily="34" charset="-122"/>
                <a:cs typeface="Cambria" pitchFamily="34" charset="-120"/>
              </a:rPr>
              <a:t>4.5 h</a:t>
            </a:r>
            <a:endParaRPr lang="en-US" sz="3000" dirty="0"/>
          </a:p>
        </p:txBody>
      </p:sp>
      <p:sp>
        <p:nvSpPr>
          <p:cNvPr id="17" name="Text 15"/>
          <p:cNvSpPr/>
          <p:nvPr/>
        </p:nvSpPr>
        <p:spPr>
          <a:xfrm>
            <a:off x="8083296" y="2770632"/>
            <a:ext cx="2651760" cy="420624"/>
          </a:xfrm>
          <a:prstGeom prst="rect">
            <a:avLst/>
          </a:prstGeom>
          <a:noFill/>
          <a:ln/>
        </p:spPr>
        <p:txBody>
          <a:bodyPr wrap="square" lIns="0" tIns="0" rIns="0" bIns="0" rtlCol="0" anchor="ctr"/>
          <a:lstStyle/>
          <a:p>
            <a:pPr indent="0" marL="0">
              <a:buNone/>
            </a:pPr>
            <a:r>
              <a:rPr lang="en-US" sz="1200" b="1" dirty="0">
                <a:solidFill>
                  <a:srgbClr val="24213F"/>
                </a:solidFill>
                <a:latin typeface="Calibri" pitchFamily="34" charset="0"/>
                <a:ea typeface="Calibri" pitchFamily="34" charset="-122"/>
                <a:cs typeface="Calibri" pitchFamily="34" charset="-120"/>
              </a:rPr>
              <a:t>facilities time freed</a:t>
            </a:r>
            <a:endParaRPr lang="en-US" sz="1200" dirty="0"/>
          </a:p>
          <a:p>
            <a:pPr indent="0" marL="0">
              <a:buNone/>
            </a:pPr>
            <a:r>
              <a:rPr lang="en-US" sz="1200" b="1" dirty="0">
                <a:solidFill>
                  <a:srgbClr val="24213F"/>
                </a:solidFill>
                <a:latin typeface="Calibri" pitchFamily="34" charset="0"/>
                <a:ea typeface="Calibri" pitchFamily="34" charset="-122"/>
                <a:cs typeface="Calibri" pitchFamily="34" charset="-120"/>
              </a:rPr>
              <a:t>per month</a:t>
            </a:r>
            <a:endParaRPr lang="en-US" sz="1200" dirty="0"/>
          </a:p>
        </p:txBody>
      </p:sp>
      <p:sp>
        <p:nvSpPr>
          <p:cNvPr id="18" name="Text 16"/>
          <p:cNvSpPr/>
          <p:nvPr/>
        </p:nvSpPr>
        <p:spPr>
          <a:xfrm>
            <a:off x="8083296" y="3200400"/>
            <a:ext cx="2697480" cy="256032"/>
          </a:xfrm>
          <a:prstGeom prst="rect">
            <a:avLst/>
          </a:prstGeom>
          <a:noFill/>
          <a:ln/>
        </p:spPr>
        <p:txBody>
          <a:bodyPr wrap="square" lIns="0" tIns="0" rIns="0" bIns="0" rtlCol="0" anchor="ctr"/>
          <a:lstStyle/>
          <a:p>
            <a:pPr indent="0" marL="0">
              <a:buNone/>
            </a:pPr>
            <a:r>
              <a:rPr lang="en-US" sz="850" dirty="0">
                <a:solidFill>
                  <a:srgbClr val="5C6082"/>
                </a:solidFill>
                <a:latin typeface="Calibri" pitchFamily="34" charset="0"/>
                <a:ea typeface="Calibri" pitchFamily="34" charset="-122"/>
                <a:cs typeface="Calibri" pitchFamily="34" charset="-120"/>
              </a:rPr>
              <a:t>Assumption: 45 minutes saved</a:t>
            </a:r>
            <a:endParaRPr lang="en-US" sz="850" dirty="0"/>
          </a:p>
          <a:p>
            <a:pPr indent="0" marL="0">
              <a:buNone/>
            </a:pPr>
            <a:r>
              <a:rPr lang="en-US" sz="850" dirty="0">
                <a:solidFill>
                  <a:srgbClr val="5C6082"/>
                </a:solidFill>
                <a:latin typeface="Calibri" pitchFamily="34" charset="0"/>
                <a:ea typeface="Calibri" pitchFamily="34" charset="-122"/>
                <a:cs typeface="Calibri" pitchFamily="34" charset="-120"/>
              </a:rPr>
              <a:t>per avoided diagnosis</a:t>
            </a:r>
            <a:endParaRPr lang="en-US" sz="850" dirty="0"/>
          </a:p>
        </p:txBody>
      </p:sp>
      <p:sp>
        <p:nvSpPr>
          <p:cNvPr id="19" name="Shape 17"/>
          <p:cNvSpPr/>
          <p:nvPr/>
        </p:nvSpPr>
        <p:spPr>
          <a:xfrm>
            <a:off x="621792" y="3913632"/>
            <a:ext cx="10899648" cy="2084832"/>
          </a:xfrm>
          <a:prstGeom prst="roundRect">
            <a:avLst>
              <a:gd name="adj" fmla="val 6140"/>
            </a:avLst>
          </a:prstGeom>
          <a:solidFill>
            <a:srgbClr val="EEEBFC"/>
          </a:solidFill>
          <a:ln w="12700">
            <a:solidFill>
              <a:srgbClr val="D8D2F7"/>
            </a:solidFill>
            <a:prstDash val="solid"/>
          </a:ln>
        </p:spPr>
      </p:sp>
      <p:sp>
        <p:nvSpPr>
          <p:cNvPr id="20" name="Text 18"/>
          <p:cNvSpPr/>
          <p:nvPr/>
        </p:nvSpPr>
        <p:spPr>
          <a:xfrm>
            <a:off x="896112" y="4206240"/>
            <a:ext cx="3200400" cy="274320"/>
          </a:xfrm>
          <a:prstGeom prst="rect">
            <a:avLst/>
          </a:prstGeom>
          <a:noFill/>
          <a:ln/>
        </p:spPr>
        <p:txBody>
          <a:bodyPr wrap="square" lIns="0" tIns="0" rIns="0" bIns="0" rtlCol="0" anchor="ctr"/>
          <a:lstStyle/>
          <a:p>
            <a:pPr indent="0" marL="0">
              <a:buNone/>
            </a:pPr>
            <a:r>
              <a:rPr lang="en-US" sz="1600" b="1" dirty="0">
                <a:solidFill>
                  <a:srgbClr val="24213F"/>
                </a:solidFill>
                <a:latin typeface="Cambria" pitchFamily="34" charset="0"/>
                <a:ea typeface="Cambria" pitchFamily="34" charset="-122"/>
                <a:cs typeface="Cambria" pitchFamily="34" charset="-120"/>
              </a:rPr>
              <a:t>How LIVLINK creates the value</a:t>
            </a:r>
            <a:endParaRPr lang="en-US" sz="1600" dirty="0"/>
          </a:p>
        </p:txBody>
      </p:sp>
      <p:sp>
        <p:nvSpPr>
          <p:cNvPr id="21" name="Shape 19"/>
          <p:cNvSpPr/>
          <p:nvPr/>
        </p:nvSpPr>
        <p:spPr>
          <a:xfrm>
            <a:off x="896112" y="4709160"/>
            <a:ext cx="402336" cy="402336"/>
          </a:xfrm>
          <a:prstGeom prst="ellipse">
            <a:avLst/>
          </a:prstGeom>
          <a:solidFill>
            <a:srgbClr val="6758CE"/>
          </a:solidFill>
          <a:ln w="12700">
            <a:solidFill>
              <a:srgbClr val="6758CE"/>
            </a:solidFill>
            <a:prstDash val="solid"/>
          </a:ln>
        </p:spPr>
      </p:sp>
      <p:sp>
        <p:nvSpPr>
          <p:cNvPr id="22" name="Text 20"/>
          <p:cNvSpPr/>
          <p:nvPr/>
        </p:nvSpPr>
        <p:spPr>
          <a:xfrm>
            <a:off x="896112" y="4782312"/>
            <a:ext cx="402336" cy="12801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23" name="Text 21"/>
          <p:cNvSpPr/>
          <p:nvPr/>
        </p:nvSpPr>
        <p:spPr>
          <a:xfrm>
            <a:off x="1408176" y="4681728"/>
            <a:ext cx="1325880" cy="192024"/>
          </a:xfrm>
          <a:prstGeom prst="rect">
            <a:avLst/>
          </a:prstGeom>
          <a:noFill/>
          <a:ln/>
        </p:spPr>
        <p:txBody>
          <a:bodyPr wrap="square" lIns="0" tIns="0" rIns="0" bIns="0" rtlCol="0" anchor="ctr"/>
          <a:lstStyle/>
          <a:p>
            <a:pPr indent="0" marL="0">
              <a:buNone/>
            </a:pPr>
            <a:r>
              <a:rPr lang="en-US" sz="1100" b="1" dirty="0">
                <a:solidFill>
                  <a:srgbClr val="24213F"/>
                </a:solidFill>
                <a:latin typeface="Calibri" pitchFamily="34" charset="0"/>
                <a:ea typeface="Calibri" pitchFamily="34" charset="-122"/>
                <a:cs typeface="Calibri" pitchFamily="34" charset="-120"/>
              </a:rPr>
              <a:t>Detect</a:t>
            </a:r>
            <a:endParaRPr lang="en-US" sz="1100" dirty="0"/>
          </a:p>
        </p:txBody>
      </p:sp>
      <p:sp>
        <p:nvSpPr>
          <p:cNvPr id="24" name="Text 22"/>
          <p:cNvSpPr/>
          <p:nvPr/>
        </p:nvSpPr>
        <p:spPr>
          <a:xfrm>
            <a:off x="1408176" y="4946904"/>
            <a:ext cx="2057400" cy="420624"/>
          </a:xfrm>
          <a:prstGeom prst="rect">
            <a:avLst/>
          </a:prstGeom>
          <a:noFill/>
          <a:ln/>
        </p:spPr>
        <p:txBody>
          <a:bodyPr wrap="square" lIns="0" tIns="0" rIns="0" bIns="0" rtlCol="0" anchor="ctr"/>
          <a:lstStyle/>
          <a:p>
            <a:pPr indent="0" marL="0">
              <a:buNone/>
            </a:pPr>
            <a:r>
              <a:rPr lang="en-US" sz="880" dirty="0">
                <a:solidFill>
                  <a:srgbClr val="5C6082"/>
                </a:solidFill>
                <a:latin typeface="Calibri" pitchFamily="34" charset="0"/>
                <a:ea typeface="Calibri" pitchFamily="34" charset="-122"/>
                <a:cs typeface="Calibri" pitchFamily="34" charset="-120"/>
              </a:rPr>
              <a:t>Simulated telemetry flags</a:t>
            </a:r>
            <a:endParaRPr lang="en-US" sz="880" dirty="0"/>
          </a:p>
          <a:p>
            <a:pPr indent="0" marL="0">
              <a:buNone/>
            </a:pPr>
            <a:r>
              <a:rPr lang="en-US" sz="880" dirty="0">
                <a:solidFill>
                  <a:srgbClr val="5C6082"/>
                </a:solidFill>
                <a:latin typeface="Calibri" pitchFamily="34" charset="0"/>
                <a:ea typeface="Calibri" pitchFamily="34" charset="-122"/>
                <a:cs typeface="Calibri" pitchFamily="34" charset="-120"/>
              </a:rPr>
              <a:t>10% lock battery</a:t>
            </a:r>
            <a:endParaRPr lang="en-US" sz="880" dirty="0"/>
          </a:p>
        </p:txBody>
      </p:sp>
      <p:sp>
        <p:nvSpPr>
          <p:cNvPr id="25" name="Shape 23"/>
          <p:cNvSpPr/>
          <p:nvPr/>
        </p:nvSpPr>
        <p:spPr>
          <a:xfrm>
            <a:off x="3136392" y="4910328"/>
            <a:ext cx="457200" cy="0"/>
          </a:xfrm>
          <a:prstGeom prst="line">
            <a:avLst/>
          </a:prstGeom>
          <a:noFill/>
          <a:ln w="19050">
            <a:solidFill>
              <a:srgbClr val="A99EE7"/>
            </a:solidFill>
            <a:prstDash val="solid"/>
            <a:headEnd type="none"/>
            <a:tailEnd type="triangle"/>
          </a:ln>
        </p:spPr>
      </p:sp>
      <p:sp>
        <p:nvSpPr>
          <p:cNvPr id="26" name="Shape 24"/>
          <p:cNvSpPr/>
          <p:nvPr/>
        </p:nvSpPr>
        <p:spPr>
          <a:xfrm>
            <a:off x="3813048" y="4709160"/>
            <a:ext cx="402336" cy="402336"/>
          </a:xfrm>
          <a:prstGeom prst="ellipse">
            <a:avLst/>
          </a:prstGeom>
          <a:solidFill>
            <a:srgbClr val="6758CE"/>
          </a:solidFill>
          <a:ln w="12700">
            <a:solidFill>
              <a:srgbClr val="6758CE"/>
            </a:solidFill>
            <a:prstDash val="solid"/>
          </a:ln>
        </p:spPr>
      </p:sp>
      <p:sp>
        <p:nvSpPr>
          <p:cNvPr id="27" name="Text 25"/>
          <p:cNvSpPr/>
          <p:nvPr/>
        </p:nvSpPr>
        <p:spPr>
          <a:xfrm>
            <a:off x="3813048" y="4782312"/>
            <a:ext cx="402336" cy="12801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28" name="Text 26"/>
          <p:cNvSpPr/>
          <p:nvPr/>
        </p:nvSpPr>
        <p:spPr>
          <a:xfrm>
            <a:off x="4325112" y="4681728"/>
            <a:ext cx="1325880" cy="192024"/>
          </a:xfrm>
          <a:prstGeom prst="rect">
            <a:avLst/>
          </a:prstGeom>
          <a:noFill/>
          <a:ln/>
        </p:spPr>
        <p:txBody>
          <a:bodyPr wrap="square" lIns="0" tIns="0" rIns="0" bIns="0" rtlCol="0" anchor="ctr"/>
          <a:lstStyle/>
          <a:p>
            <a:pPr indent="0" marL="0">
              <a:buNone/>
            </a:pPr>
            <a:r>
              <a:rPr lang="en-US" sz="1100" b="1" dirty="0">
                <a:solidFill>
                  <a:srgbClr val="24213F"/>
                </a:solidFill>
                <a:latin typeface="Calibri" pitchFamily="34" charset="0"/>
                <a:ea typeface="Calibri" pitchFamily="34" charset="-122"/>
                <a:cs typeface="Calibri" pitchFamily="34" charset="-120"/>
              </a:rPr>
              <a:t>Explain</a:t>
            </a:r>
            <a:endParaRPr lang="en-US" sz="1100" dirty="0"/>
          </a:p>
        </p:txBody>
      </p:sp>
      <p:sp>
        <p:nvSpPr>
          <p:cNvPr id="29" name="Text 27"/>
          <p:cNvSpPr/>
          <p:nvPr/>
        </p:nvSpPr>
        <p:spPr>
          <a:xfrm>
            <a:off x="4325112" y="4946904"/>
            <a:ext cx="2057400" cy="420624"/>
          </a:xfrm>
          <a:prstGeom prst="rect">
            <a:avLst/>
          </a:prstGeom>
          <a:noFill/>
          <a:ln/>
        </p:spPr>
        <p:txBody>
          <a:bodyPr wrap="square" lIns="0" tIns="0" rIns="0" bIns="0" rtlCol="0" anchor="ctr"/>
          <a:lstStyle/>
          <a:p>
            <a:pPr indent="0" marL="0">
              <a:buNone/>
            </a:pPr>
            <a:r>
              <a:rPr lang="en-US" sz="880" dirty="0">
                <a:solidFill>
                  <a:srgbClr val="5C6082"/>
                </a:solidFill>
                <a:latin typeface="Calibri" pitchFamily="34" charset="0"/>
                <a:ea typeface="Calibri" pitchFamily="34" charset="-122"/>
                <a:cs typeface="Calibri" pitchFamily="34" charset="-120"/>
              </a:rPr>
              <a:t>Five-reading decline +</a:t>
            </a:r>
            <a:endParaRPr lang="en-US" sz="880" dirty="0"/>
          </a:p>
          <a:p>
            <a:pPr indent="0" marL="0">
              <a:buNone/>
            </a:pPr>
            <a:r>
              <a:rPr lang="en-US" sz="880" dirty="0">
                <a:solidFill>
                  <a:srgbClr val="5C6082"/>
                </a:solidFill>
                <a:latin typeface="Calibri" pitchFamily="34" charset="0"/>
                <a:ea typeface="Calibri" pitchFamily="34" charset="-122"/>
                <a:cs typeface="Calibri" pitchFamily="34" charset="-120"/>
              </a:rPr>
              <a:t>four connection failures</a:t>
            </a:r>
            <a:endParaRPr lang="en-US" sz="880" dirty="0"/>
          </a:p>
        </p:txBody>
      </p:sp>
      <p:sp>
        <p:nvSpPr>
          <p:cNvPr id="30" name="Shape 28"/>
          <p:cNvSpPr/>
          <p:nvPr/>
        </p:nvSpPr>
        <p:spPr>
          <a:xfrm>
            <a:off x="6053328" y="4910328"/>
            <a:ext cx="457200" cy="0"/>
          </a:xfrm>
          <a:prstGeom prst="line">
            <a:avLst/>
          </a:prstGeom>
          <a:noFill/>
          <a:ln w="19050">
            <a:solidFill>
              <a:srgbClr val="A99EE7"/>
            </a:solidFill>
            <a:prstDash val="solid"/>
            <a:headEnd type="none"/>
            <a:tailEnd type="triangle"/>
          </a:ln>
        </p:spPr>
      </p:sp>
      <p:sp>
        <p:nvSpPr>
          <p:cNvPr id="31" name="Shape 29"/>
          <p:cNvSpPr/>
          <p:nvPr/>
        </p:nvSpPr>
        <p:spPr>
          <a:xfrm>
            <a:off x="6729984" y="4709160"/>
            <a:ext cx="402336" cy="402336"/>
          </a:xfrm>
          <a:prstGeom prst="ellipse">
            <a:avLst/>
          </a:prstGeom>
          <a:solidFill>
            <a:srgbClr val="6758CE"/>
          </a:solidFill>
          <a:ln w="12700">
            <a:solidFill>
              <a:srgbClr val="6758CE"/>
            </a:solidFill>
            <a:prstDash val="solid"/>
          </a:ln>
        </p:spPr>
      </p:sp>
      <p:sp>
        <p:nvSpPr>
          <p:cNvPr id="32" name="Text 30"/>
          <p:cNvSpPr/>
          <p:nvPr/>
        </p:nvSpPr>
        <p:spPr>
          <a:xfrm>
            <a:off x="6729984" y="4782312"/>
            <a:ext cx="402336" cy="12801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33" name="Text 31"/>
          <p:cNvSpPr/>
          <p:nvPr/>
        </p:nvSpPr>
        <p:spPr>
          <a:xfrm>
            <a:off x="7242048" y="4681728"/>
            <a:ext cx="1325880" cy="192024"/>
          </a:xfrm>
          <a:prstGeom prst="rect">
            <a:avLst/>
          </a:prstGeom>
          <a:noFill/>
          <a:ln/>
        </p:spPr>
        <p:txBody>
          <a:bodyPr wrap="square" lIns="0" tIns="0" rIns="0" bIns="0" rtlCol="0" anchor="ctr"/>
          <a:lstStyle/>
          <a:p>
            <a:pPr indent="0" marL="0">
              <a:buNone/>
            </a:pPr>
            <a:r>
              <a:rPr lang="en-US" sz="1100" b="1" dirty="0">
                <a:solidFill>
                  <a:srgbClr val="24213F"/>
                </a:solidFill>
                <a:latin typeface="Calibri" pitchFamily="34" charset="0"/>
                <a:ea typeface="Calibri" pitchFamily="34" charset="-122"/>
                <a:cs typeface="Calibri" pitchFamily="34" charset="-120"/>
              </a:rPr>
              <a:t>Act</a:t>
            </a:r>
            <a:endParaRPr lang="en-US" sz="1100" dirty="0"/>
          </a:p>
        </p:txBody>
      </p:sp>
      <p:sp>
        <p:nvSpPr>
          <p:cNvPr id="34" name="Text 32"/>
          <p:cNvSpPr/>
          <p:nvPr/>
        </p:nvSpPr>
        <p:spPr>
          <a:xfrm>
            <a:off x="7242048" y="4946904"/>
            <a:ext cx="2057400" cy="420624"/>
          </a:xfrm>
          <a:prstGeom prst="rect">
            <a:avLst/>
          </a:prstGeom>
          <a:noFill/>
          <a:ln/>
        </p:spPr>
        <p:txBody>
          <a:bodyPr wrap="square" lIns="0" tIns="0" rIns="0" bIns="0" rtlCol="0" anchor="ctr"/>
          <a:lstStyle/>
          <a:p>
            <a:pPr indent="0" marL="0">
              <a:buNone/>
            </a:pPr>
            <a:r>
              <a:rPr lang="en-US" sz="880" dirty="0">
                <a:solidFill>
                  <a:srgbClr val="5C6082"/>
                </a:solidFill>
                <a:latin typeface="Calibri" pitchFamily="34" charset="0"/>
                <a:ea typeface="Calibri" pitchFamily="34" charset="-122"/>
                <a:cs typeface="Calibri" pitchFamily="34" charset="-120"/>
              </a:rPr>
              <a:t>Backend sends a work item</a:t>
            </a:r>
            <a:endParaRPr lang="en-US" sz="880" dirty="0"/>
          </a:p>
          <a:p>
            <a:pPr indent="0" marL="0">
              <a:buNone/>
            </a:pPr>
            <a:r>
              <a:rPr lang="en-US" sz="880" dirty="0">
                <a:solidFill>
                  <a:srgbClr val="5C6082"/>
                </a:solidFill>
                <a:latin typeface="Calibri" pitchFamily="34" charset="0"/>
                <a:ea typeface="Calibri" pitchFamily="34" charset="-122"/>
                <a:cs typeface="Calibri" pitchFamily="34" charset="-120"/>
              </a:rPr>
              <a:t>to the Operator queue</a:t>
            </a:r>
            <a:endParaRPr lang="en-US" sz="880" dirty="0"/>
          </a:p>
        </p:txBody>
      </p:sp>
      <p:sp>
        <p:nvSpPr>
          <p:cNvPr id="35" name="Shape 33"/>
          <p:cNvSpPr/>
          <p:nvPr/>
        </p:nvSpPr>
        <p:spPr>
          <a:xfrm>
            <a:off x="8970264" y="4910328"/>
            <a:ext cx="457200" cy="0"/>
          </a:xfrm>
          <a:prstGeom prst="line">
            <a:avLst/>
          </a:prstGeom>
          <a:noFill/>
          <a:ln w="19050">
            <a:solidFill>
              <a:srgbClr val="A99EE7"/>
            </a:solidFill>
            <a:prstDash val="solid"/>
            <a:headEnd type="none"/>
            <a:tailEnd type="triangle"/>
          </a:ln>
        </p:spPr>
      </p:sp>
      <p:sp>
        <p:nvSpPr>
          <p:cNvPr id="36" name="Shape 34"/>
          <p:cNvSpPr/>
          <p:nvPr/>
        </p:nvSpPr>
        <p:spPr>
          <a:xfrm>
            <a:off x="9308592" y="4709160"/>
            <a:ext cx="402336" cy="402336"/>
          </a:xfrm>
          <a:prstGeom prst="ellipse">
            <a:avLst/>
          </a:prstGeom>
          <a:solidFill>
            <a:srgbClr val="147C54"/>
          </a:solidFill>
          <a:ln w="12700">
            <a:solidFill>
              <a:srgbClr val="147C54"/>
            </a:solidFill>
            <a:prstDash val="solid"/>
          </a:ln>
        </p:spPr>
      </p:sp>
      <p:sp>
        <p:nvSpPr>
          <p:cNvPr id="37" name="Text 35"/>
          <p:cNvSpPr/>
          <p:nvPr/>
        </p:nvSpPr>
        <p:spPr>
          <a:xfrm>
            <a:off x="9308592" y="4782312"/>
            <a:ext cx="402336" cy="12801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38" name="Text 36"/>
          <p:cNvSpPr/>
          <p:nvPr/>
        </p:nvSpPr>
        <p:spPr>
          <a:xfrm>
            <a:off x="9820656" y="4681728"/>
            <a:ext cx="1325880" cy="192024"/>
          </a:xfrm>
          <a:prstGeom prst="rect">
            <a:avLst/>
          </a:prstGeom>
          <a:noFill/>
          <a:ln/>
        </p:spPr>
        <p:txBody>
          <a:bodyPr wrap="square" lIns="0" tIns="0" rIns="0" bIns="0" rtlCol="0" anchor="ctr"/>
          <a:lstStyle/>
          <a:p>
            <a:pPr indent="0" marL="0">
              <a:buNone/>
            </a:pPr>
            <a:r>
              <a:rPr lang="en-US" sz="1100" b="1" dirty="0">
                <a:solidFill>
                  <a:srgbClr val="24213F"/>
                </a:solidFill>
                <a:latin typeface="Calibri" pitchFamily="34" charset="0"/>
                <a:ea typeface="Calibri" pitchFamily="34" charset="-122"/>
                <a:cs typeface="Calibri" pitchFamily="34" charset="-120"/>
              </a:rPr>
              <a:t>Prevent</a:t>
            </a:r>
            <a:endParaRPr lang="en-US" sz="1100" dirty="0"/>
          </a:p>
        </p:txBody>
      </p:sp>
      <p:sp>
        <p:nvSpPr>
          <p:cNvPr id="39" name="Text 37"/>
          <p:cNvSpPr/>
          <p:nvPr/>
        </p:nvSpPr>
        <p:spPr>
          <a:xfrm>
            <a:off x="9820656" y="4946904"/>
            <a:ext cx="2057400" cy="420624"/>
          </a:xfrm>
          <a:prstGeom prst="rect">
            <a:avLst/>
          </a:prstGeom>
          <a:noFill/>
          <a:ln/>
        </p:spPr>
        <p:txBody>
          <a:bodyPr wrap="square" lIns="0" tIns="0" rIns="0" bIns="0" rtlCol="0" anchor="ctr"/>
          <a:lstStyle/>
          <a:p>
            <a:pPr indent="0" marL="0">
              <a:buNone/>
            </a:pPr>
            <a:r>
              <a:rPr lang="en-US" sz="880" dirty="0">
                <a:solidFill>
                  <a:srgbClr val="5C6082"/>
                </a:solidFill>
                <a:latin typeface="Calibri" pitchFamily="34" charset="0"/>
                <a:ea typeface="Calibri" pitchFamily="34" charset="-122"/>
                <a:cs typeface="Calibri" pitchFamily="34" charset="-120"/>
              </a:rPr>
              <a:t>Assign and fix before</a:t>
            </a:r>
            <a:endParaRPr lang="en-US" sz="880" dirty="0"/>
          </a:p>
          <a:p>
            <a:pPr indent="0" marL="0">
              <a:buNone/>
            </a:pPr>
            <a:r>
              <a:rPr lang="en-US" sz="880" dirty="0">
                <a:solidFill>
                  <a:srgbClr val="5C6082"/>
                </a:solidFill>
                <a:latin typeface="Calibri" pitchFamily="34" charset="0"/>
                <a:ea typeface="Calibri" pitchFamily="34" charset="-122"/>
                <a:cs typeface="Calibri" pitchFamily="34" charset="-120"/>
              </a:rPr>
              <a:t>the resident reports it</a:t>
            </a:r>
            <a:endParaRPr lang="en-US" sz="880" dirty="0"/>
          </a:p>
        </p:txBody>
      </p:sp>
      <p:sp>
        <p:nvSpPr>
          <p:cNvPr id="40" name="Text 38"/>
          <p:cNvSpPr/>
          <p:nvPr/>
        </p:nvSpPr>
        <p:spPr>
          <a:xfrm>
            <a:off x="630936" y="6355080"/>
            <a:ext cx="10881360" cy="219456"/>
          </a:xfrm>
          <a:prstGeom prst="rect">
            <a:avLst/>
          </a:prstGeom>
          <a:noFill/>
          <a:ln/>
        </p:spPr>
        <p:txBody>
          <a:bodyPr wrap="square" lIns="0" tIns="0" rIns="0" bIns="0" rtlCol="0" anchor="ctr"/>
          <a:lstStyle/>
          <a:p>
            <a:pPr indent="0" marL="0">
              <a:buNone/>
            </a:pPr>
            <a:r>
              <a:rPr lang="en-US" sz="950" i="1" dirty="0">
                <a:solidFill>
                  <a:srgbClr val="925800"/>
                </a:solidFill>
                <a:latin typeface="Calibri" pitchFamily="34" charset="0"/>
                <a:ea typeface="Calibri" pitchFamily="34" charset="-122"/>
                <a:cs typeface="Calibri" pitchFamily="34" charset="-120"/>
              </a:rPr>
              <a:t>Use in the pitch: “These are pilot assumptions. LIVLINK gives the developer the measurement layer to replace them with real building data.”</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LIVLINK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LIVLINK developer value — illustrative 200-unit pilot</dc:title>
  <dc:subject>Developer value model</dc:subject>
  <dc:creator>LIVLINK</dc:creator>
  <cp:lastModifiedBy>LIVLINK</cp:lastModifiedBy>
  <cp:revision>1</cp:revision>
  <dcterms:created xsi:type="dcterms:W3CDTF">2026-09-16T23:03:47Z</dcterms:created>
  <dcterms:modified xsi:type="dcterms:W3CDTF">2026-09-16T23:03:47Z</dcterms:modified>
</cp:coreProperties>
</file>